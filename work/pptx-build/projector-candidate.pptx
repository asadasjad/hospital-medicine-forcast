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cd2c8aab44ee6" /><Relationship Type="http://schemas.openxmlformats.org/officeDocument/2006/relationships/extended-properties" Target="/docProps/app.xml" Id="R640651df040f483a" /><Relationship Type="http://schemas.openxmlformats.org/officeDocument/2006/relationships/officeDocument" Target="/ppt/presentation.xml" Id="R8e0d882cfb844c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ef8d26df644bf"/>
  </p:sldMasterIdLst>
  <p:notesMasterIdLst>
    <p:notesMasterId xmlns:r="http://schemas.openxmlformats.org/officeDocument/2006/relationships" r:id="R7cc5c72c2cca49c7"/>
  </p:notesMasterIdLst>
  <p:sldIdLst>
    <p:sldId xmlns:r="http://schemas.openxmlformats.org/officeDocument/2006/relationships" id="256" r:id="R1c351af2ee564c9b"/>
    <p:sldId xmlns:r="http://schemas.openxmlformats.org/officeDocument/2006/relationships" id="257" r:id="R1d4cefff9f09454c"/>
    <p:sldId xmlns:r="http://schemas.openxmlformats.org/officeDocument/2006/relationships" id="258" r:id="R153837dba5db4a97"/>
    <p:sldId xmlns:r="http://schemas.openxmlformats.org/officeDocument/2006/relationships" id="259" r:id="Rd1105e2582444106"/>
    <p:sldId xmlns:r="http://schemas.openxmlformats.org/officeDocument/2006/relationships" id="260" r:id="R0d6b48205c174fe5"/>
    <p:sldId xmlns:r="http://schemas.openxmlformats.org/officeDocument/2006/relationships" id="261" r:id="Rbe2d7d4133a14664"/>
    <p:sldId xmlns:r="http://schemas.openxmlformats.org/officeDocument/2006/relationships" id="262" r:id="R4350a2c7239f4311"/>
    <p:sldId xmlns:r="http://schemas.openxmlformats.org/officeDocument/2006/relationships" id="263" r:id="R9b31d8e0dd3c4193"/>
    <p:sldId xmlns:r="http://schemas.openxmlformats.org/officeDocument/2006/relationships" id="264" r:id="R1d7cdd464b034135"/>
    <p:sldId xmlns:r="http://schemas.openxmlformats.org/officeDocument/2006/relationships" id="265" r:id="R381fffdddd65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4b263cbc0443e4" /><Relationship Type="http://schemas.openxmlformats.org/officeDocument/2006/relationships/slideMaster" Target="/ppt/slideMasters/slideMaster1.xml" Id="Rf5fef8d26df644bf" /><Relationship Type="http://schemas.openxmlformats.org/officeDocument/2006/relationships/notesMaster" Target="/ppt/notesMasters/notesMaster1.xml" Id="R7cc5c72c2cca49c7" /><Relationship Type="http://schemas.openxmlformats.org/officeDocument/2006/relationships/presProps" Target="/ppt/presProps.xml" Id="R8504e31b01bc47d6" /><Relationship Type="http://schemas.openxmlformats.org/officeDocument/2006/relationships/tableStyles" Target="/ppt/tableStyles.xml" Id="Reeda1428e12d4c5a" /><Relationship Type="http://schemas.openxmlformats.org/officeDocument/2006/relationships/slide" Target="/ppt/slides/slide1.xml" Id="R1c351af2ee564c9b" /><Relationship Type="http://schemas.openxmlformats.org/officeDocument/2006/relationships/slide" Target="/ppt/slides/slide2.xml" Id="R1d4cefff9f09454c" /><Relationship Type="http://schemas.openxmlformats.org/officeDocument/2006/relationships/slide" Target="/ppt/slides/slide3.xml" Id="R153837dba5db4a97" /><Relationship Type="http://schemas.openxmlformats.org/officeDocument/2006/relationships/slide" Target="/ppt/slides/slide4.xml" Id="Rd1105e2582444106" /><Relationship Type="http://schemas.openxmlformats.org/officeDocument/2006/relationships/slide" Target="/ppt/slides/slide5.xml" Id="R0d6b48205c174fe5" /><Relationship Type="http://schemas.openxmlformats.org/officeDocument/2006/relationships/slide" Target="/ppt/slides/slide6.xml" Id="Rbe2d7d4133a14664" /><Relationship Type="http://schemas.openxmlformats.org/officeDocument/2006/relationships/slide" Target="/ppt/slides/slide7.xml" Id="R4350a2c7239f4311" /><Relationship Type="http://schemas.openxmlformats.org/officeDocument/2006/relationships/slide" Target="/ppt/slides/slide8.xml" Id="R9b31d8e0dd3c4193" /><Relationship Type="http://schemas.openxmlformats.org/officeDocument/2006/relationships/slide" Target="/ppt/slides/slide9.xml" Id="R1d7cdd464b034135" /><Relationship Type="http://schemas.openxmlformats.org/officeDocument/2006/relationships/slide" Target="/ppt/slides/slide10.xml" Id="R381fffdddd65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80faac58b46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588fcd2924f79" /><Relationship Type="http://schemas.openxmlformats.org/officeDocument/2006/relationships/notesMaster" Target="/ppt/notesMasters/notesMaster1.xml" Id="R196f7a899bbb4c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0f64b0dfa74953" /><Relationship Type="http://schemas.openxmlformats.org/officeDocument/2006/relationships/notesMaster" Target="/ppt/notesMasters/notesMaster1.xml" Id="R126405151c9540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9c007d1617452a" /><Relationship Type="http://schemas.openxmlformats.org/officeDocument/2006/relationships/notesMaster" Target="/ppt/notesMasters/notesMaster1.xml" Id="Rb5ae8760cf5b49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920ba74c874917" /><Relationship Type="http://schemas.openxmlformats.org/officeDocument/2006/relationships/notesMaster" Target="/ppt/notesMasters/notesMaster1.xml" Id="Rd05c46f6249d4e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9590da2acc41d6" /><Relationship Type="http://schemas.openxmlformats.org/officeDocument/2006/relationships/notesMaster" Target="/ppt/notesMasters/notesMaster1.xml" Id="Ree72acf44cb444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34fd71f8734a74" /><Relationship Type="http://schemas.openxmlformats.org/officeDocument/2006/relationships/notesMaster" Target="/ppt/notesMasters/notesMaster1.xml" Id="R5ced5f0b91d14a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101e406d92438e" /><Relationship Type="http://schemas.openxmlformats.org/officeDocument/2006/relationships/notesMaster" Target="/ppt/notesMasters/notesMaster1.xml" Id="Ra6f20aad803848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3f976fdfa44d93" /><Relationship Type="http://schemas.openxmlformats.org/officeDocument/2006/relationships/notesMaster" Target="/ppt/notesMasters/notesMaster1.xml" Id="R8178359f3d7147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e123e630d14200" /><Relationship Type="http://schemas.openxmlformats.org/officeDocument/2006/relationships/notesMaster" Target="/ppt/notesMasters/notesMaster1.xml" Id="R1d9dd649b85f4e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563c23822043ca" /><Relationship Type="http://schemas.openxmlformats.org/officeDocument/2006/relationships/notesMaster" Target="/ppt/notesMasters/notesMaster1.xml" Id="R0fb847685ee3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Hospitals need enough medicine on hand. Too much can expire; too little can cause a shortage. Our goal is to help find a better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The system has three jobs. It predicts demand, checks the inventory position, and recommends what to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Yasir: This is the dashboard view. Forecasts, stock, suggested orders and risk appear together, so a team can see the next decision in one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Yasir: The dashboard shows predicted demand, available stock, days of supply, risk levels, and a suggested order. The goal is to make the decision easy to 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Aon: For N02BE, demand is predicted at 901 units. With 700 on hand, 100 incoming, and a 150-unit safety buffer, the prototype recommends 252 units. Inventory values are demo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We start with monthly sales history. The model forecasts demand. The inventory engine combines that forecast with stock and lead-time inputs, then returns an order suggestion and risk flags.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We used 70 monthly observations across eight categories, covering 2014 to 2019. We evaluated Linear Regression using a time-based split. The test errors were 60.91 MAE and 118.24 RMSE.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Aon: The inventory engine uses predicted demand, on-hand and incoming stock, safety stock, and supplier lead time. It calculates a suggested order and flags stockout or expiry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I worked on the data and forecasting.</a:t>
            </a:r>
          </a:p>
          <a:p xmlns:a="http://schemas.openxmlformats.org/drawingml/2006/main">
            <a:r>
              <a:t>Aon: I built the inventory rules and backend integration.</a:t>
            </a:r>
          </a:p>
          <a:p xmlns:a="http://schemas.openxmlformats.org/drawingml/2006/main">
            <a:r>
              <a:t>Yasir: I built the dashboard that brings the results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Predict demand. Prepare inventory. Prevent avoidable shortages and waste.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b2efce7be4f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2c3d63f81f4e1b" /><Relationship Type="http://schemas.openxmlformats.org/officeDocument/2006/relationships/slideLayout" Target="/ppt/slideLayouts/slideLayout1.xml" Id="R3c75b665cd4147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5b665cd4147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ecf08bf7b40df" /><Relationship Type="http://schemas.openxmlformats.org/officeDocument/2006/relationships/notesSlide" Target="/ppt/notesSlides/notesSlide1.xml" Id="R88c9ad94563d42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130ed1fb14ea7" /><Relationship Type="http://schemas.openxmlformats.org/officeDocument/2006/relationships/notesSlide" Target="/ppt/notesSlides/notesSlide2.xml" Id="Rb7df16c182bd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d8d2646eb4f82" /><Relationship Type="http://schemas.openxmlformats.org/officeDocument/2006/relationships/notesSlide" Target="/ppt/notesSlides/notesSlide3.xml" Id="R3653a3c8dcff4c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88d15cef44af9" /><Relationship Type="http://schemas.openxmlformats.org/officeDocument/2006/relationships/notesSlide" Target="/ppt/notesSlides/notesSlide4.xml" Id="Rb0376df513b049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2d6856093420d" /><Relationship Type="http://schemas.openxmlformats.org/officeDocument/2006/relationships/notesSlide" Target="/ppt/notesSlides/notesSlide5.xml" Id="R9cbed18c551c42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d08cb92b6466d" /><Relationship Type="http://schemas.openxmlformats.org/officeDocument/2006/relationships/notesSlide" Target="/ppt/notesSlides/notesSlide6.xml" Id="Rce25150f5e704c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c6abde5e748c1" /><Relationship Type="http://schemas.openxmlformats.org/officeDocument/2006/relationships/notesSlide" Target="/ppt/notesSlides/notesSlide7.xml" Id="Rff446d6560594b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f83fc61374900" /><Relationship Type="http://schemas.openxmlformats.org/officeDocument/2006/relationships/notesSlide" Target="/ppt/notesSlides/notesSlide8.xml" Id="Re9ea3536bb9746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50b822d0b4af7" /><Relationship Type="http://schemas.openxmlformats.org/officeDocument/2006/relationships/notesSlide" Target="/ppt/notesSlides/notesSlide9.xml" Id="Re0248273745845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8187ff7c84720" /><Relationship Type="http://schemas.openxmlformats.org/officeDocument/2006/relationships/notesSlide" Target="/ppt/notesSlides/notesSlide10.xml" Id="R4f7cc95d3f9244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DED12-CE83-4158-AB80-DD0CB6D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DDCD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DDCD4"/>
                </a:solidFill>
                <a:latin typeface="Arial"/>
                <a:ea typeface="Arial"/>
                <a:cs typeface="Arial"/>
              </a:rPr>
              <a:t>HOSPITAL MEDICINE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4997E-112F-480C-8E9E-6887A01E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695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much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EB6CA-4360-48D1-9987-2B69F6E2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51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72DED4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72DED4"/>
                </a:solidFill>
                <a:latin typeface="Arial"/>
                <a:ea typeface="Arial"/>
                <a:cs typeface="Arial"/>
              </a:rPr>
              <a:t>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AEFAF-3AB7-4BDC-B1C4-6AFD004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D5E1E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D5E1EE"/>
                </a:solidFill>
                <a:latin typeface="Arial"/>
                <a:ea typeface="Arial"/>
                <a:cs typeface="Arial"/>
              </a:rPr>
              <a:t>Too little 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D55CB-A47D-4CF6-B54C-50ABE135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725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54F44-FA8A-4A8E-9706-379D1600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00150"/>
            <a:ext cx="3333750" cy="42100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0D2945"/>
          </a:solidFill>
          <a:ln xmlns:a="http://schemas.openxmlformats.org/drawingml/2006/main" w="9525">
            <a:solidFill>
              <a:srgbClr val="2442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19168-6F39-4951-A24D-E76CE802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2647950" cy="346710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10365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DDD38-D0C4-47DD-BDDE-BEE12904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83E0D8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83E0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BD601-6048-4F31-B0EA-4BE1079B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1676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52AED-9620-4B88-B559-698C1911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2422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Forecast before</a:t>
            </a:r>
          </a:p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96C9E-F7AC-40CF-B043-5ACE8E0C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6E4F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6E4F3"/>
                </a:solidFill>
                <a:latin typeface="Arial"/>
                <a:ea typeface="Arial"/>
                <a:cs typeface="Arial"/>
              </a:rPr>
              <a:t>Forecasting &amp; inventory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91ED3-6686-4D9C-BCB7-83F73A1E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98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FC4D9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FC4D9"/>
                </a:solidFill>
                <a:latin typeface="Arial"/>
                <a:ea typeface="Arial"/>
                <a:cs typeface="Arial"/>
              </a:rPr>
              <a:t>ASAD   ·   AON   ·   YASIR</a:t>
            </a:r>
          </a:p>
        </p:txBody>
      </p:sp>
    </p:spTree>
    <p:extLst>
      <p:ext uri="{BB962C8B-B14F-4D97-AF65-F5344CB8AC3E}">
        <p14:creationId xmlns:p14="http://schemas.microsoft.com/office/powerpoint/2010/main" val="1908557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4D879-0075-4FDA-8A90-0D1AA077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system. Three clear jobs.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6E0D8-892D-4B13-A403-CBB333FA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 decision-support workflow for hospital medicine.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C591A-5102-411A-B6BC-3DB2B06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3528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10EDD-C3A7-4497-8E85-AC0AD3DE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3330F-5A2B-4535-97F5-298C5931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F983D-17B5-40FB-AF5D-E61493F4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5B956-3BD1-4EF8-869D-D85A3526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289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9A151-FEE4-47A1-85AC-7F0EDCED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33528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54471-C310-461B-9B17-F2FF1DDA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ABD94-9B70-440E-9329-8497CBE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591A9-F4C3-44F2-86AB-13555C7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679B0-925A-407E-B878-14C1E4F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30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10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1E8E6-8A03-4D38-A722-53B45232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35280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30339-5C89-4A82-A0A5-8E0626C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1F598-5316-496F-8667-6B43896D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8D90A-DB85-48AE-8409-084A8230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what to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A8193-74D6-4411-9EA3-7A27BC7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From historical sales to a practical next step.</a:t>
            </a:r>
          </a:p>
        </p:txBody>
      </p:sp>
    </p:spTree>
    <p:extLst>
      <p:ext uri="{BB962C8B-B14F-4D97-AF65-F5344CB8AC3E}">
        <p14:creationId xmlns:p14="http://schemas.microsoft.com/office/powerpoint/2010/main" val="4701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6C8F16-F30A-48F8-97FE-432B47FA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See the next decision in one 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D343D-2BC4-440A-B79D-BDBC4F6F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Product dashboard · editable visual based on the project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8D72E-1740-4F59-BFB1-F38C8AD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F40AD-3FA4-43D5-84FF-308F30E5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104013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07FEF-EBAE-4BF5-9B7D-5684EB42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43815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3CA4F-CAC2-4AB4-B996-5FD73BAD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7819C-14C7-4B8B-A217-1D4998A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478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Hospital Medicine 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716D8-7F50-45DA-8560-19DE0CD9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184785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89C5F-A8F4-4451-885B-C8DBB55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NEXT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50D33-1985-4EDD-B533-6249DE4E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194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608FD-23B7-451B-996A-285AF6BB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165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47052-6672-44EC-B445-93D5E0D0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62938-9EE3-4DC9-8B62-2615F6A2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194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1902F-106E-4D67-ADE0-5EDC0208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14625"/>
            <a:ext cx="165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60.91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707E9-DD38-46C1-981E-5EDE5405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A406D-2461-4F06-82A4-46AD44A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7000"/>
            <a:ext cx="19431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3C9DD-7ADB-4047-81DC-0391512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1657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118.24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E9970-6CA2-436B-B517-CF462C6C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1657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8F6E2-4186-4A49-BCBB-178CB81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44577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3D053-77B6-4E19-8426-7B77101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DEMAND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ADD60-11F4-4B6F-9D58-B47A2000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4EBCD-C7D4-42F7-BD93-6181F14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48150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8B7C6-B4F9-4304-885D-FEBC2DEE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248150"/>
            <a:ext cx="199358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F47AF-9A05-4090-87EC-AAAC124E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24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2B2E0-2DD8-4506-B70B-C53BC683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M01AB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C519CB-B107-45A8-9EC2-33AEB099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19625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65AD7-8A27-49BF-B479-BA59D129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619625"/>
            <a:ext cx="83248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CFCF9-0C2C-4BB9-B010-1B22503B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151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DED1C0-B853-4069-B1EC-FE7F9609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N05B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EBEBF-08A1-421C-98F7-F494AA1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91100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A7DF2-0FBB-4077-8FB3-A14BA9E5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991100"/>
            <a:ext cx="591503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51D562-DA70-423F-B226-B0B74A15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05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8AA77B-9E3B-4C5F-913C-E5B3A53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388056-6C7F-4CC6-88C5-E55E818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62575"/>
            <a:ext cx="2190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1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5B97EA-4F55-49D4-992C-536045B2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62575"/>
            <a:ext cx="48196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5AC48F-83D0-454F-AE75-6079185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76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147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F6B7D9-CE4F-4C5A-976C-3105EC35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53149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729AA7-0DC5-4A8D-8500-BC54DDEE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719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 RECOMMENDATIONS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E6B23D-6458-4A54-834F-EF509D90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43863C-9565-43CB-AB2C-6E33E248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971C7F-2B53-497C-902C-B99329A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581A69-5868-44A8-9D8C-EA604AFA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C39E0E-0643-4F5E-8EFF-3A2A1C99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14337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8511FA-F36B-47E8-A5B4-9606FD6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4D1960-4A52-46C6-A9EB-40C00DB2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14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3B80AA-D937-40FF-BE59-7F14B691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B42B69-4456-4323-B848-1A76928D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197485-122B-4E3A-BF92-76B16ADF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15C026-8FF3-48B1-BAA6-7BEE83A1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514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547958-617B-488D-BB4C-6A9430F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M01AB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97B12C-5438-41B1-B491-68AD8200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151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1CB9E5-3B5B-4F3F-84CA-4E45C94E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038A70-7E46-4B2B-9A28-73A7290C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3B93C2-3230-42E2-9498-0CAB18B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895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751B08-AD18-4E0B-B4B3-4F8516B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N05B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1EBEEA-A775-48FC-9E93-483CCF2E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238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BFF0EC-D742-4DBF-BD86-4E164812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37F1EA-F2D9-4EAA-9A62-9C53EE91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565DBC-10E7-4693-B9F7-32668897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27685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464359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EA44B-BED3-459E-B866-AB99E75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dashboard makes each signal easy to scan.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29CDF-F1E7-4BFB-B997-EE6C6E4F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858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50810-AFA7-40E0-8F99-3511902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5E120-D85F-47FE-9EE2-E133842A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145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C0887-C5B9-40E1-B9E8-694A475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Next-period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780B8-AD99-43FA-A642-0B247514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9AA80-0B4D-4D98-BDA4-AEE4DCB9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6858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5EAE1-4B05-43B1-B0C2-83F54086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D3277-75BE-4B1D-A835-0F4BC06C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718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22434-A0CC-40B8-89CC-D944BDF5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Units on hand and incoming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074EA-FA98-4A54-A3C7-1FDCB997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D1C75-6DE8-4764-A4E8-4336A38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685800" cy="3429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79AE6-C358-49C4-BB93-1A4E66C7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167F8-197D-457E-AEC2-A1453083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36B13-F39C-4E51-81DA-751F14DF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Days of supply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84388-4C45-47CE-ACFD-06DCAF68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46482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A4FA3-E63A-4470-8290-1F4A9F5D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9DCD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DC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17B80-864C-4429-981E-6EF9470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62225"/>
            <a:ext cx="365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C77D9-1918-47A7-9266-955F552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0DFE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0DFED"/>
                </a:solidFill>
                <a:latin typeface="Arial"/>
                <a:ea typeface="Arial"/>
                <a:cs typeface="Arial"/>
              </a:rPr>
              <a:t>Stockout  ·  Expiry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01129-A2A8-4001-8811-9290077F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76650"/>
            <a:ext cx="379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16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4D3CA-1985-49BD-940D-80A67698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433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9DCD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DC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79205-E1FF-406C-B495-B90A041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48175"/>
            <a:ext cx="3790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3D31D-5745-46F0-870D-AB11CE8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33950"/>
            <a:ext cx="379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0DFE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0DFED"/>
                </a:solidFill>
                <a:latin typeface="Arial"/>
                <a:ea typeface="Arial"/>
                <a:cs typeface="Arial"/>
              </a:rPr>
              <a:t>A clear replenishment quantity</a:t>
            </a:r>
          </a:p>
        </p:txBody>
      </p:sp>
    </p:spTree>
    <p:extLst>
      <p:ext uri="{BB962C8B-B14F-4D97-AF65-F5344CB8AC3E}">
        <p14:creationId xmlns:p14="http://schemas.microsoft.com/office/powerpoint/2010/main" val="1252980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43046-FE91-44E5-AB6D-5C2AEFA7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4C26E-3D87-4FBB-B2E2-18387E01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 30-day prototype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3F4D8-612B-4F32-9535-A00431E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1529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FE3D3-9CF2-404F-916B-EC53FB2F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3714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9E8C8-FD83-4DE8-98E6-708FBE11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PREDICTED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40EB6-C5BF-4593-8241-4D6D257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3525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8A39F-111E-4F2A-9A10-7AE0EAA2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60AB7-CDF2-4DDE-B842-9CF18A15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3524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84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E61C2-7AE8-454A-9F83-6A8BC1D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RECOMMENDED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14F1C-9CC7-4480-8564-F277F254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2203F-B944-4F76-AE7A-C5FC200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291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7B05-136E-4EE4-838A-ADFA0247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ON HAND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30CDD-BF74-4748-8E5C-1324C503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95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E2866-D21E-438D-A78B-17467674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291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F8E16-C327-44C2-859E-56A960A2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530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INCOMING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63729-E431-498E-9963-9149F29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958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DCC18-2551-485F-AC29-17B03047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CE969-60F2-49EF-A458-94652CF0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SAFETY BUFFER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9939F-3BAB-4ABD-9F1A-440B79B4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Demo inventory inputs · rule-based calculation</a:t>
            </a:r>
          </a:p>
        </p:txBody>
      </p:sp>
    </p:spTree>
    <p:extLst>
      <p:ext uri="{BB962C8B-B14F-4D97-AF65-F5344CB8AC3E}">
        <p14:creationId xmlns:p14="http://schemas.microsoft.com/office/powerpoint/2010/main" val="1897157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A6712-C9A3-4516-9FAC-7ABC274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Four steps turn history into a plan.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6F96D-D2CD-4420-A26D-36108068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1105E-37D1-47F2-BE2B-CCD5184E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604B7-8806-4CEE-829A-38FC0D7C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Historical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D5117-5783-4B07-B158-F82ABF6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Monthly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9A14F-C362-463A-868C-6792CC4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00375"/>
            <a:ext cx="371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81614-8342-40C1-9E24-F516D6DA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EA82E-794A-4822-B1D6-06AB2081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DA92A-6BB2-449B-9A51-90AA8886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Demand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8DF44-925F-40FC-92BF-7B0C29AF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3A8EA-5C0B-45FE-BE7B-95B7ABFB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0375"/>
            <a:ext cx="371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045E3-36F3-4A3F-B2BE-5D22B5CE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B2CC3-F8CD-49B7-B44F-429DF08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44FBD-9A92-45FC-BD17-5C426548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Inventory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2549E-BF4E-4C1D-BC71-C99074A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Stock · lead time · buffer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C9B17-1D7E-40D2-BF7A-BDDF6682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00375"/>
            <a:ext cx="371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7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1741E-56AC-4E5A-99CC-0B079CD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362200" cy="24765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A1414-0DC1-4C9E-8041-EB024A3A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CB1FB-EE80-41BE-AA03-2AEB507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B29B5-523F-4BC6-8D08-B38174B8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814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Order quantity ·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51868-8FC0-42EF-9F58-57B80C60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Forecast first. Inventory context next. Decision last.</a:t>
            </a:r>
          </a:p>
        </p:txBody>
      </p:sp>
    </p:spTree>
    <p:extLst>
      <p:ext uri="{BB962C8B-B14F-4D97-AF65-F5344CB8AC3E}">
        <p14:creationId xmlns:p14="http://schemas.microsoft.com/office/powerpoint/2010/main" val="1980751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F030B1-B288-4B04-96E3-87978B2F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simple model. Measured on held-out months.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CE56C-5E35-46F8-A4C5-D5AC3C1B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Monthly pharmaceutical sales · time-based train/test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3F674-1CB1-4AEC-93BB-ECDEC162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76275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691AD-4A36-472C-BA6B-2635BBBE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7500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9ED68-CAC2-4E42-B633-D1202E8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9EECD-A33F-4F2D-99B5-D1544FD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6795A-AC34-4CE8-8716-73008098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2133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75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BDE1A-EA00-4E9E-A000-8587E97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242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ATC CATEGORIES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DE562-2D4E-4995-9C07-54DACFC7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5429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495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2014–2019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CBA55-BBE1-4BE6-AB54-B8056DB2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379095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87D31-A796-4737-A9AC-C50B6D12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CC1F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CC1F4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B9EE7-A5BF-4ADD-84C3-EF02978E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3AEEE-80ED-436A-9F89-BD3F4E2D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4E2F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4E2F0"/>
                </a:solidFill>
                <a:latin typeface="Arial"/>
                <a:ea typeface="Arial"/>
                <a:cs typeface="Arial"/>
              </a:rPr>
              <a:t>Time-based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EF1E-4DE3-4DBD-BF08-C69AF947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2197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20683-87DD-41AA-9EB3-D9B2DB97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F0FB3-59C4-4AB8-8DC9-FC856075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60.91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F2812-A2F7-49DF-9334-74266532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52197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BE8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8D968-D4DF-4C4F-949E-942A5371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8157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C7654-089C-40FF-B88D-20BFC4E8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76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118.24</a:t>
            </a:r>
          </a:p>
        </p:txBody>
      </p:sp>
    </p:spTree>
    <p:extLst>
      <p:ext uri="{BB962C8B-B14F-4D97-AF65-F5344CB8AC3E}">
        <p14:creationId xmlns:p14="http://schemas.microsoft.com/office/powerpoint/2010/main" val="93217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8C48A3-B49A-4CC4-A5A2-A1DAF75C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order rule is visible and explainable.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8C7B6-C6F7-4AAF-B97B-F9A325F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 engine · 30-day planning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BDFD1-A5D1-4293-A50B-1640171D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0FCB6-9D74-4B90-AAE5-DD49AD9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Forecast 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D16C7-1336-48DF-AA28-84AC602B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716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Expected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64EE1-0295-4C11-80B2-1DC51A15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C5D3B-ADD5-46C7-901D-44A96709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Current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28679-E069-4851-9CAB-D5A2845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Units on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3A952-889F-45B6-9037-D294885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A5CE2-256A-4681-942C-9617E6B1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Incoming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75470-187A-4D29-A214-C7D3F39D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337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Already ordered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E54CB-1544-4A84-91ED-9FF08B6F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ABDCA-E5D0-4DE8-A43D-32356489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Safety 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404C3-9945-4C8E-A103-7E4B62BD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Buffer quantity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7AB8C-38C6-478B-9C40-668F5E60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61722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8B342-3D99-4B7B-8A32-95E19724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Supplier lead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79BA8-B42C-455F-B4B5-EF6FEF6D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Days to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7CC25-4813-4375-A8D9-9DEEC7B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62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85839-F21F-4C32-AFE8-33733E2A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19300"/>
            <a:ext cx="38290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071A2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243598-D1BC-48AE-B26B-C46A90D5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6DED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6DED6"/>
                </a:solidFill>
                <a:latin typeface="Arial"/>
                <a:ea typeface="Arial"/>
                <a:cs typeface="Arial"/>
              </a:rPr>
              <a:t>ENGINE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E7A56-B350-4255-B511-E5FB270F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16A62-EF35-470E-A222-9FCB69B8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16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206888-CC7F-41E3-B79C-917AE6D1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Stockout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D4567-C453-4190-A573-12EEF33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AD8E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AD8E7"/>
                </a:solidFill>
                <a:latin typeface="Arial"/>
                <a:ea typeface="Arial"/>
                <a:cs typeface="Arial"/>
              </a:rPr>
              <a:t>Expiry risk  ·  Days of supply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FA8475-FE64-4EEF-8200-64042A2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Planning support with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8020250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62586-BE4C-4470-8764-4BA4F849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Three roles. One connected workflow.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28620-AA50-4D1B-A28F-3A728289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35280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24CE5-A87F-47B3-A94A-BD68785A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55962-7E87-41CC-903F-ABC548E0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ASAD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3F274-1DFE-4E56-AA03-C7C1E766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253E8-0D1A-4E16-A9CD-23D960C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2819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Data &amp;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112A4-4C4E-4E8B-9E51-5DFB33E6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5280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5F8F4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3050E-F254-4323-B008-82C80BF6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940F4-49A2-452F-BC17-E92E92B7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717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4B897-DC77-4DD0-B682-1D19B781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DF225-8889-4CA9-AABD-84AAF8E3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00475"/>
            <a:ext cx="2819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Inventory engine &amp;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EEB97-DC8E-4D76-A640-8889443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352800" cy="2914650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C9D7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B7C89-CE6C-46D5-9095-7C2BC5C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1B93F-0C5D-4A08-B30B-EA57A4A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717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YASIR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7E236-643F-4D9E-AFA1-4652534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5C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5765EB-CD6D-4128-B7F9-CA0C39E4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00475"/>
            <a:ext cx="2819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334B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34B63"/>
                </a:solidFill>
                <a:latin typeface="Arial"/>
                <a:ea typeface="Arial"/>
                <a:cs typeface="Arial"/>
              </a:rPr>
              <a:t>Dashboard &amp;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A4986-3B27-4B9A-975C-5CCCE842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D296B-9333-4857-BB8E-E7D3583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244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73BF7-C8EB-4860-9727-F2695A0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A974E-835B-4D33-A354-FB4EAE5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244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98272-5791-4F1F-886A-8E12C4FC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10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INVENTORY LOGIC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8D7FA-F513-47D0-A8A7-CE9A832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244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A99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0A99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4EBA1-72F3-467C-9D98-4D8905DF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0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35CE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35CE8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045369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C51E-E02C-4F0B-AB9F-E3EC253C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50A14-80CC-4B46-88FD-3B3DBB11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714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37"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72DED4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72DED4"/>
                </a:solidFill>
                <a:latin typeface="Arial"/>
                <a:ea typeface="Arial"/>
                <a:cs typeface="Arial"/>
              </a:rPr>
              <a:t>Prepare.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1CC91-A9D6-4B7E-ADCE-5392419F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714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8ED62-F4E1-4F4D-9892-F9BA9895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14450"/>
            <a:ext cx="3238500" cy="3943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D2945"/>
          </a:solidFill>
          <a:ln xmlns:a="http://schemas.openxmlformats.org/drawingml/2006/main" w="9525">
            <a:solidFill>
              <a:srgbClr val="2442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200BC-5949-4B7D-8191-ABDB818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51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83E0D8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83E0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5E0CE-E445-48BC-AFA9-49A367B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FC4D9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FC4D9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46850-BC9A-4CBC-B8C1-4D020BC0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670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539C5-4B6D-452C-A414-AA94C04A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217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the</a:t>
            </a:r>
          </a:p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shortage.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9CC54-DBB2-4A1F-AAA1-29831B70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6E4F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6E4F3"/>
                </a:solidFill>
                <a:latin typeface="Arial"/>
                <a:ea typeface="Arial"/>
                <a:cs typeface="Arial"/>
              </a:rPr>
              <a:t>Hospital Medicine Forecasting &amp; Inventory Intelligence</a:t>
            </a:r>
          </a:p>
        </p:txBody>
      </p:sp>
    </p:spTree>
    <p:extLst>
      <p:ext uri="{BB962C8B-B14F-4D97-AF65-F5344CB8AC3E}">
        <p14:creationId xmlns:p14="http://schemas.microsoft.com/office/powerpoint/2010/main" val="1581615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2026-10-06T04:45:54.1740000Z</dcterms:created>
  <dcterms:modified xsi:type="dcterms:W3CDTF">2026-10-06T04:45:54.1740000Z</dcterms:modified>
</coreProperties>
</file>