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771d7f2c314b0c" /><Relationship Type="http://schemas.openxmlformats.org/officeDocument/2006/relationships/extended-properties" Target="/docProps/app.xml" Id="R427760d17ba349a3" /><Relationship Type="http://schemas.openxmlformats.org/officeDocument/2006/relationships/officeDocument" Target="/ppt/presentation.xml" Id="R0829a9d20d6e4e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4d611ef4c48bd"/>
  </p:sldMasterIdLst>
  <p:notesMasterIdLst>
    <p:notesMasterId xmlns:r="http://schemas.openxmlformats.org/officeDocument/2006/relationships" r:id="R83e4b614b3ae42c8"/>
  </p:notesMasterIdLst>
  <p:sldIdLst>
    <p:sldId xmlns:r="http://schemas.openxmlformats.org/officeDocument/2006/relationships" id="256" r:id="R7c262029c8564ebd"/>
    <p:sldId xmlns:r="http://schemas.openxmlformats.org/officeDocument/2006/relationships" id="257" r:id="R0b0e0c66eb2341a4"/>
    <p:sldId xmlns:r="http://schemas.openxmlformats.org/officeDocument/2006/relationships" id="258" r:id="Rd52ba21f48024dbe"/>
    <p:sldId xmlns:r="http://schemas.openxmlformats.org/officeDocument/2006/relationships" id="259" r:id="R313d0dc9e97a410f"/>
    <p:sldId xmlns:r="http://schemas.openxmlformats.org/officeDocument/2006/relationships" id="260" r:id="R814f6fbb78fc4dcd"/>
    <p:sldId xmlns:r="http://schemas.openxmlformats.org/officeDocument/2006/relationships" id="261" r:id="Rbffad2aed09042eb"/>
    <p:sldId xmlns:r="http://schemas.openxmlformats.org/officeDocument/2006/relationships" id="262" r:id="Ra99aa24dcff8451d"/>
    <p:sldId xmlns:r="http://schemas.openxmlformats.org/officeDocument/2006/relationships" id="263" r:id="R68ca7982106d44d7"/>
    <p:sldId xmlns:r="http://schemas.openxmlformats.org/officeDocument/2006/relationships" id="264" r:id="R2a876c68ba48458e"/>
    <p:sldId xmlns:r="http://schemas.openxmlformats.org/officeDocument/2006/relationships" id="265" r:id="R29978d2af2fe49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9dad40dc74879" /><Relationship Type="http://schemas.openxmlformats.org/officeDocument/2006/relationships/slideMaster" Target="/ppt/slideMasters/slideMaster1.xml" Id="Ra574d611ef4c48bd" /><Relationship Type="http://schemas.openxmlformats.org/officeDocument/2006/relationships/notesMaster" Target="/ppt/notesMasters/notesMaster1.xml" Id="R83e4b614b3ae42c8" /><Relationship Type="http://schemas.openxmlformats.org/officeDocument/2006/relationships/presProps" Target="/ppt/presProps.xml" Id="Rba288d266ac146b0" /><Relationship Type="http://schemas.openxmlformats.org/officeDocument/2006/relationships/tableStyles" Target="/ppt/tableStyles.xml" Id="R133c667ecdba4da2" /><Relationship Type="http://schemas.openxmlformats.org/officeDocument/2006/relationships/slide" Target="/ppt/slides/slide1.xml" Id="R7c262029c8564ebd" /><Relationship Type="http://schemas.openxmlformats.org/officeDocument/2006/relationships/slide" Target="/ppt/slides/slide2.xml" Id="R0b0e0c66eb2341a4" /><Relationship Type="http://schemas.openxmlformats.org/officeDocument/2006/relationships/slide" Target="/ppt/slides/slide3.xml" Id="Rd52ba21f48024dbe" /><Relationship Type="http://schemas.openxmlformats.org/officeDocument/2006/relationships/slide" Target="/ppt/slides/slide4.xml" Id="R313d0dc9e97a410f" /><Relationship Type="http://schemas.openxmlformats.org/officeDocument/2006/relationships/slide" Target="/ppt/slides/slide5.xml" Id="R814f6fbb78fc4dcd" /><Relationship Type="http://schemas.openxmlformats.org/officeDocument/2006/relationships/slide" Target="/ppt/slides/slide6.xml" Id="Rbffad2aed09042eb" /><Relationship Type="http://schemas.openxmlformats.org/officeDocument/2006/relationships/slide" Target="/ppt/slides/slide7.xml" Id="Ra99aa24dcff8451d" /><Relationship Type="http://schemas.openxmlformats.org/officeDocument/2006/relationships/slide" Target="/ppt/slides/slide8.xml" Id="R68ca7982106d44d7" /><Relationship Type="http://schemas.openxmlformats.org/officeDocument/2006/relationships/slide" Target="/ppt/slides/slide9.xml" Id="R2a876c68ba48458e" /><Relationship Type="http://schemas.openxmlformats.org/officeDocument/2006/relationships/slide" Target="/ppt/slides/slide10.xml" Id="R29978d2af2fe49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1b0fbfe26a46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00c96321c40c5" /><Relationship Type="http://schemas.openxmlformats.org/officeDocument/2006/relationships/notesMaster" Target="/ppt/notesMasters/notesMaster1.xml" Id="R99780508757a4e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08690ecf1f47bd" /><Relationship Type="http://schemas.openxmlformats.org/officeDocument/2006/relationships/notesMaster" Target="/ppt/notesMasters/notesMaster1.xml" Id="R829050cb2dd942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680c1bfa9342c6" /><Relationship Type="http://schemas.openxmlformats.org/officeDocument/2006/relationships/notesMaster" Target="/ppt/notesMasters/notesMaster1.xml" Id="R9ed4b8ef30f043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93366eb899467b" /><Relationship Type="http://schemas.openxmlformats.org/officeDocument/2006/relationships/notesMaster" Target="/ppt/notesMasters/notesMaster1.xml" Id="Rc544a74db4ec4d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0a599e366494a" /><Relationship Type="http://schemas.openxmlformats.org/officeDocument/2006/relationships/notesMaster" Target="/ppt/notesMasters/notesMaster1.xml" Id="R5f5030a524e34c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11313ac38c4b0e" /><Relationship Type="http://schemas.openxmlformats.org/officeDocument/2006/relationships/notesMaster" Target="/ppt/notesMasters/notesMaster1.xml" Id="R1902c3bc745a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21092002cc474e" /><Relationship Type="http://schemas.openxmlformats.org/officeDocument/2006/relationships/notesMaster" Target="/ppt/notesMasters/notesMaster1.xml" Id="R2ae023000c0649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2ab8b7c6c04221" /><Relationship Type="http://schemas.openxmlformats.org/officeDocument/2006/relationships/notesMaster" Target="/ppt/notesMasters/notesMaster1.xml" Id="Rb13778b489d846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92c1701404fc6" /><Relationship Type="http://schemas.openxmlformats.org/officeDocument/2006/relationships/notesMaster" Target="/ppt/notesMasters/notesMaster1.xml" Id="R3a357db306c747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2e30353d554e17" /><Relationship Type="http://schemas.openxmlformats.org/officeDocument/2006/relationships/notesMaster" Target="/ppt/notesMasters/notesMaster1.xml" Id="Rc953c19b8ecf44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Hospitals need enough medicine on hand. Too much can expire; too little can cause a shortage. Our goal is to help find a better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The system has three jobs. It predicts demand, checks the inventory position, and recommends what to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Yasir: This is the dashboard view. Forecasts, stock, suggested orders and risk appear together, so a team can see the next decision in one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Yasir: The dashboard shows predicted demand, available stock, days of supply, risk levels, and a suggested order. The goal is to make the decision easy to read.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Aon: For N02BE, demand is predicted at 901 units. With 700 on hand, 100 incoming, and a 150-unit safety buffer, the prototype recommends 252 units. Inventory values are demo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We start with monthly sales history. The model forecasts demand. The inventory engine combines that forecast with stock and lead-time inputs, then returns an order suggestion and risk flags.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We used 70 monthly observations across eight categories, covering 2014 to 2019. We evaluated Linear Regression using a time-based split. The test errors were 60.91 MAE and 118.24 RMSE.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Aon: The inventory engine uses predicted demand, on-hand and incoming stock, safety stock, and supplier lead time. It calculates a suggested order and flags stockout or expiry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I worked on the data and forecasting.</a:t>
            </a:r>
          </a:p>
          <a:p xmlns:a="http://schemas.openxmlformats.org/drawingml/2006/main">
            <a:r>
              <a:t>Aon: I built the inventory rules and backend integration.</a:t>
            </a:r>
          </a:p>
          <a:p xmlns:a="http://schemas.openxmlformats.org/drawingml/2006/main">
            <a:r>
              <a:t>Yasir: I built the dashboard that brings the results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Predict demand. Prepare inventory. Prevent avoidable shortages and waste. 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a40f0af0647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a1f65a83e4094" /><Relationship Type="http://schemas.openxmlformats.org/officeDocument/2006/relationships/slideLayout" Target="/ppt/slideLayouts/slideLayout1.xml" Id="Redf179adf03f41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f179adf03f41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697cbc3ed4708" /><Relationship Type="http://schemas.openxmlformats.org/officeDocument/2006/relationships/notesSlide" Target="/ppt/notesSlides/notesSlide1.xml" Id="R5df0bc6e875e40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f2638bd314541" /><Relationship Type="http://schemas.openxmlformats.org/officeDocument/2006/relationships/notesSlide" Target="/ppt/notesSlides/notesSlide2.xml" Id="Rc66d75e0f72949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c933e059843b9" /><Relationship Type="http://schemas.openxmlformats.org/officeDocument/2006/relationships/notesSlide" Target="/ppt/notesSlides/notesSlide3.xml" Id="R01662fc7493049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c47567f3a40ea" /><Relationship Type="http://schemas.openxmlformats.org/officeDocument/2006/relationships/notesSlide" Target="/ppt/notesSlides/notesSlide4.xml" Id="Rb29b3bc114bd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c5f1a26c14abf" /><Relationship Type="http://schemas.openxmlformats.org/officeDocument/2006/relationships/notesSlide" Target="/ppt/notesSlides/notesSlide5.xml" Id="Rcf6a1ccf3c2f45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7fabe6cbc431e" /><Relationship Type="http://schemas.openxmlformats.org/officeDocument/2006/relationships/notesSlide" Target="/ppt/notesSlides/notesSlide6.xml" Id="R8a50d9203d2d41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ed26884684b51" /><Relationship Type="http://schemas.openxmlformats.org/officeDocument/2006/relationships/notesSlide" Target="/ppt/notesSlides/notesSlide7.xml" Id="Rbb28bcb82883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161c4a41c45aa" /><Relationship Type="http://schemas.openxmlformats.org/officeDocument/2006/relationships/notesSlide" Target="/ppt/notesSlides/notesSlide8.xml" Id="R308f2eea06994e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83ef80cb54ec4" /><Relationship Type="http://schemas.openxmlformats.org/officeDocument/2006/relationships/notesSlide" Target="/ppt/notesSlides/notesSlide9.xml" Id="Rb843ae4f9ce040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b2b57c8c34462" /><Relationship Type="http://schemas.openxmlformats.org/officeDocument/2006/relationships/notesSlide" Target="/ppt/notesSlides/notesSlide10.xml" Id="R1501eb04ece4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44BAD-3D08-4446-99C9-468F81DC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DDCD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DDCD4"/>
                </a:solidFill>
                <a:latin typeface="Arial"/>
                <a:ea typeface="Arial"/>
                <a:cs typeface="Arial"/>
              </a:rPr>
              <a:t>HOSPITAL MEDICINE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DED8F-E4CC-465D-995D-CCEE38EE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695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 much 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442EC-6BD5-48FB-9265-EE0C498A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351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72DED4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72DED4"/>
                </a:solidFill>
                <a:latin typeface="Arial"/>
                <a:ea typeface="Arial"/>
                <a:cs typeface="Arial"/>
              </a:rPr>
              <a:t>waste.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866FE-30C5-4FE2-B744-041D6F6B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695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D5E1E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D5E1EE"/>
                </a:solidFill>
                <a:latin typeface="Arial"/>
                <a:ea typeface="Arial"/>
                <a:cs typeface="Arial"/>
              </a:rPr>
              <a:t>Too little 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026D9-5C84-4A94-BB07-48DF3E32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25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AA025-4D4A-4142-B6F4-45B0FFE6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0" i="1">
                <a:solidFill>
                  <a:srgbClr val="8BE4DC"/>
                </a:solidFill>
                <a:latin typeface="Georgia"/>
                <a:ea typeface="Georgia"/>
                <a:cs typeface="Georgia"/>
              </a:defRPr>
            </a:pPr>
            <a:r>
              <a:rPr sz="2175" b="0" i="1">
                <a:solidFill>
                  <a:srgbClr val="8BE4DC"/>
                </a:solidFill>
                <a:latin typeface="Georgia"/>
                <a:ea typeface="Georgia"/>
                <a:cs typeface="Georgia"/>
              </a:rPr>
              <a:t>Find the balance.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11490-36FD-45EE-B3BB-C8CF8184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00150"/>
            <a:ext cx="3333750" cy="42100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945"/>
          </a:solidFill>
          <a:ln xmlns:a="http://schemas.openxmlformats.org/drawingml/2006/main" w="9525">
            <a:solidFill>
              <a:srgbClr val="2442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BBC61-2996-4231-B8E1-F95395E8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2647950" cy="346710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1036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D0525-0D03-4B69-943B-94CCCFA4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83E0D8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83E0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FFB18-D7C2-4273-8EE0-3989BE30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2715F-8221-41D3-AA88-E9C382B9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24225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 before</a:t>
            </a:r>
          </a:p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B756C-A668-41A4-A251-1F21CB73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6E4F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E4F3"/>
                </a:solidFill>
                <a:latin typeface="Arial"/>
                <a:ea typeface="Arial"/>
                <a:cs typeface="Arial"/>
              </a:rPr>
              <a:t>Forecasting &amp; inventory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F7CA2-0091-423F-A307-25BF7E91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FC4D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FC4D9"/>
                </a:solidFill>
                <a:latin typeface="Arial"/>
                <a:ea typeface="Arial"/>
                <a:cs typeface="Arial"/>
              </a:rPr>
              <a:t>ASAD   ·   AON   ·   YASIR</a:t>
            </a:r>
          </a:p>
        </p:txBody>
      </p:sp>
    </p:spTree>
    <p:extLst>
      <p:ext uri="{BB962C8B-B14F-4D97-AF65-F5344CB8AC3E}">
        <p14:creationId xmlns:p14="http://schemas.microsoft.com/office/powerpoint/2010/main" val="505734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8A315-27ED-40AE-8361-0291FCDC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system. Three clear jobs.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1DFED-9C84-46D2-8AA5-A16CA01E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A decision-support workflow for hospital medicine.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F9653-E6EE-47CF-8422-4B2900AD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3528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0761F-8AD8-416F-B75B-502771EA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1374F-D844-47F7-9EAA-54081F41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7E4E2-F7DC-4805-BC39-23C4DD6B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8A940-BBA5-441F-A54C-27716EB4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289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10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39A6C-33CA-4E2A-B092-FBA410F7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3528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16BB6-D885-47D9-ADA8-BCE98B6B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AB2EB-39E3-48AB-8D2D-9B9A027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85854-CA60-42EC-88A3-DC814679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1FBE7-73A3-4B92-BE12-2C23A43A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10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BDF5D-08F3-44C2-B75A-B5BC9F97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3528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9D0E0-F43D-4D6E-A60F-F6004D50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D6909-2D26-4E0E-9796-88FDB34B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A1CDF-F887-4E61-A8F2-AC6FDC5D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what to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6F00F-5EC1-4CB3-AE4D-E3A7574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From historical sales to a practical next step.</a:t>
            </a:r>
          </a:p>
        </p:txBody>
      </p:sp>
    </p:spTree>
    <p:extLst>
      <p:ext uri="{BB962C8B-B14F-4D97-AF65-F5344CB8AC3E}">
        <p14:creationId xmlns:p14="http://schemas.microsoft.com/office/powerpoint/2010/main" val="663966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6ED21A-BE05-43E0-9EBC-C4E8CAA7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See the next decision in one 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2E28A-6B6F-43B3-A527-72B1B728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Product dashboard · editable visual based on the project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A9FEE-0A83-4509-A648-94F881A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DCF7F-03B0-409B-ABE9-3130E6BE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104013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202B9-C5A1-4DF0-8783-BDBD5C7E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4381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114B0-D354-457E-B1FD-B9D03BDA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3EB36-383A-4126-A125-52B14B6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478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Hospital Medicine 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34E29-9A13-4763-84A1-17688ED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184785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62CA0-24E3-424F-8D15-26E5F809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NEXT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F0DE6-235E-4ED1-8060-ECD59676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94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28D77-AE62-44A4-B49A-4E9D02CA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14625"/>
            <a:ext cx="165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1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9C4F8-C05D-4097-824C-493F2251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F61DB-BAF6-41FF-A310-1A36FC06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194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8EE23-8886-4C53-9982-712E2679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14625"/>
            <a:ext cx="165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1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60.91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61D83-C698-4D49-A348-F3F7883D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4B956-854D-49A6-AABD-AC8B8F4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7000"/>
            <a:ext cx="194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E159A-D3E9-4B43-92CB-4F93E37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165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1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118.24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EC186-CFE6-4D55-9787-44DC7234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05150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58624-2139-4C98-94B7-149671C7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44577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EEC52-1FB8-46D2-B8A3-189FDC04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DEMAND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47802-287D-4F23-991C-A1AC3097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N02BE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A2708-5273-4EFF-8CCF-EF6EE684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48150"/>
            <a:ext cx="2190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CA524-86EF-4DF5-BE47-091BC765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48150"/>
            <a:ext cx="199358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66EA8-B40B-433E-B4E3-30877125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A53AC-DF05-41F1-B8EF-B9B78042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M01AB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6EBCA-3BD2-48C3-8E74-1EA088F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19625"/>
            <a:ext cx="2190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B0ED0-ABEA-4336-AB85-47B105D4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19625"/>
            <a:ext cx="83248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F874F-4976-4070-B7CF-0BDF96A8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151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B419E4-5E58-4220-B7F6-2B153D55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N05B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F57B11-FA37-491D-8732-5B62A417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91100"/>
            <a:ext cx="2190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38B1C-C0C8-4FF3-B6F0-024411B6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91100"/>
            <a:ext cx="59150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F6057-A92A-432D-BF1C-5A906D7C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05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238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962C19-D0F9-4FF2-906E-8E4E9F68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463724-8531-416A-BF24-16DFD95C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62575"/>
            <a:ext cx="2190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53DAB4-B82F-4F82-8D98-5C6C99F2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62575"/>
            <a:ext cx="48196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F7D7CC-B6C7-4EDC-8790-2F7B826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76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147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452115-9185-456C-A811-8C712AFD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53149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3C7298-FF16-4567-B210-816FD64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719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INVENTORY RECOMMENDATIONS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2E2BE1-165B-426B-8FC2-4B5ACB35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E3236C-40CD-4D3E-B4BE-CF57550B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D16CAC-52A2-4FD9-AFB3-43F6F0AD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83AC05-6CDB-4F04-A310-77D13D78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E23439-D7CC-4E7B-97F7-480A9C5A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5BEFFB-1968-40F6-98EA-DE4C8FF9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00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059A55-7970-403E-937B-DB5C769A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14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N02BE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125671-535B-40C3-B194-6AAC32A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DBAA38-746F-49F3-B9FE-F2ECCEB4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700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E0B45E-7B9D-4DA5-A9D4-FB335D4B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14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CD95A1-6499-46F3-BA49-B58A7E1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14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8067E2-B098-4FE8-839A-198890C0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95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M01AB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285099-40F5-4D91-8E95-AA1D1B2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95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151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EB1D80-BBC6-42A4-971C-991B3442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D4959D-FE56-4F03-A9F2-719C8D8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895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E05D4A-0E14-42A1-9CEF-1F5028F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895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FE267A-38C5-408B-804E-FF782786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N05B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908472-B103-4CE8-96AD-73D6E744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238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FD1D54-E2D3-4950-BFDA-E0DB8FC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76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9D1BDF-71C5-498F-AD4A-3F49DB33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76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62F897-9646-44EA-81EA-40DAEF13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76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2007669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BAF960-D075-4A4B-89B6-5C5695A7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dashboard makes each signal easy to scan.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FC7DA-A64E-449C-B19F-AA7A2A12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6858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AF61E-D088-4FDB-8289-53AF845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F323C-4E29-413B-9D3F-770803EF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14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3CB87-67C7-48C3-B9D1-5C16813F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Next-period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F796E-23AD-4937-981E-250A076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D327B-C6E7-41DF-81C1-6865DC0D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6858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FA9EC-DB82-4BE0-B33E-BAB0653C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1D001-07A8-4BE1-86EF-7B8FBCD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718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184AF-B323-4B61-8C1C-FCF2727F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Units on hand and incoming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E27AD-345C-401E-B53E-B6C2BACD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005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53C19-C491-4D4B-B64B-8577B9DF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6858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1A586-218F-4FA4-A78E-159BB026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0336D-DEDF-4D8B-A6A8-ED3A6C26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E58E8-EE22-494C-8593-388D2870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Days of supply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7E10A-81D4-424C-B6F4-1C0F32C9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6482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236F1-564A-4B86-8E11-E7FED76D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9DCD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DC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208D1-114A-4D02-B614-413F7B1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62225"/>
            <a:ext cx="365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C8E20-AFD7-45A6-9E2A-9E019692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0DFE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0DFED"/>
                </a:solidFill>
                <a:latin typeface="Arial"/>
                <a:ea typeface="Arial"/>
                <a:cs typeface="Arial"/>
              </a:rPr>
              <a:t>Stockout  ·  Expiry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E9A3D-1EC4-4D43-8678-40E3591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76650"/>
            <a:ext cx="379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54920-8CA1-4D66-A1BC-03743EF1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9DCD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DC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76B83-8258-4E62-B554-0FEBC3C8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48175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7486F-1A49-4612-BD82-6436D9D7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339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0DFE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0DFED"/>
                </a:solidFill>
                <a:latin typeface="Arial"/>
                <a:ea typeface="Arial"/>
                <a:cs typeface="Arial"/>
              </a:rPr>
              <a:t>A clear replenishment quantity</a:t>
            </a:r>
          </a:p>
        </p:txBody>
      </p:sp>
    </p:spTree>
    <p:extLst>
      <p:ext uri="{BB962C8B-B14F-4D97-AF65-F5344CB8AC3E}">
        <p14:creationId xmlns:p14="http://schemas.microsoft.com/office/powerpoint/2010/main" val="1568514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21DDF-B18D-4458-AEC8-4130E62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N02BE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DFB9C-C34F-4435-8B7A-DA58F4F7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334B63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334B63"/>
                </a:solidFill>
                <a:latin typeface="Georgia"/>
                <a:ea typeface="Georgia"/>
                <a:cs typeface="Georgia"/>
              </a:rPr>
              <a:t>A prototype scenario · 30-day planning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E45F0-C3A4-4C50-8FF3-D6EC07B4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1529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45B39-3B90-43B0-8B25-B009E6AC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3714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2C5B6-4CAA-4F0D-840A-B5CBEC56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67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PREDICTED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2D06E-F2E8-4482-AB6D-8DFCD993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13525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D0CB-FC0C-4E27-A7F1-FA086406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25CF8-58B3-4D47-A606-29BA4EE1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3524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82059-03E7-422A-A0DB-12041A6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RECOMMENDED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A6036-34A4-4FF0-93BA-731C5D5A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F0208-D8B2-4792-90CE-07167128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29125"/>
            <a:ext cx="171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700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CCED4-A324-4D7F-8E45-CADDAFA0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ON HAND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57087-F4B5-4716-874A-B8C6A19B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95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059FE-C535-497D-BF8F-4D85FC8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29125"/>
            <a:ext cx="171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150C6-EC2C-472E-B5EF-9D316917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INCOMING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A75AA-A3DD-4421-A565-F772F187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95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22BE8-E905-4A65-B52B-4193A14E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71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0D670-E678-4FC8-ADF4-4D9B448A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SAFETY BUFFER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40616-3708-4C48-9CB9-4D83DA8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Demo inventory inputs · rule-based calculation</a:t>
            </a:r>
          </a:p>
        </p:txBody>
      </p:sp>
    </p:spTree>
    <p:extLst>
      <p:ext uri="{BB962C8B-B14F-4D97-AF65-F5344CB8AC3E}">
        <p14:creationId xmlns:p14="http://schemas.microsoft.com/office/powerpoint/2010/main" val="50528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4F902-0C8C-48DE-9DC4-016B96A1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Four steps turn history into a plan.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A4C84-F291-4E42-B2C9-7BAE03E4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A7473-8C59-46F7-AF24-D50D0A97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1D417-694B-4A50-8B02-1ED2B02D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Historical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4E2FE-7239-43A2-8B60-D2F0848F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Monthly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4E5FF-7984-4B85-B674-E2AF718D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00375"/>
            <a:ext cx="371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7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C1ABB-F372-45EA-B2C1-95482075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58504-EE5D-494C-A3D8-ADABF55B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878B2-BA35-4DA0-B8F9-57B0BE8D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Demand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080C1-8AAE-47BB-8AF9-B063085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814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Linear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F9F82-330C-44EF-98F7-272E789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00375"/>
            <a:ext cx="371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7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389E7-010F-4470-A7E2-9BA060F6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9A26E-F88C-4B53-B01D-88792FA2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A098D-C8D9-4D5C-8F85-9C85BCB6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Inventory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3EF5F-CD7B-4DAD-B80B-9E1E91E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Stock · lead time · buffer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54C79-74A6-4243-88A1-32FB918A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00375"/>
            <a:ext cx="371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7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A8609-6A43-49AC-8CE7-AB67D10B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AEE8E-FEE6-4E47-95BB-6F91E9A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2B59F-E65C-4599-878A-091507AF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Suggested 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5A150-60FB-4E15-98DA-F9AA0966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814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Order quantity ·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195DB-39A1-4123-A4EF-53DFB43F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Forecast first. Inventory context next. Decision last.</a:t>
            </a:r>
          </a:p>
        </p:txBody>
      </p:sp>
    </p:spTree>
    <p:extLst>
      <p:ext uri="{BB962C8B-B14F-4D97-AF65-F5344CB8AC3E}">
        <p14:creationId xmlns:p14="http://schemas.microsoft.com/office/powerpoint/2010/main" val="2009809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D8203-9D38-49B9-A2A9-CF1446D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simple model. Measured on held-out months.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6F4C3-36A7-44A0-8D8F-54122688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Monthly pharmaceutical sales · time-based train/test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CB709-6652-43AE-A878-E36E1A40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76275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00D0E-A89F-452C-9F48-649FB44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75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8970F-6064-4A8D-AFED-B25F0EE4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6C1E2-7683-4E63-B4A6-2CF50BC5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19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0A469-AD7C-401B-902C-437468CE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2133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75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A5AB6-E63D-4E2A-A49B-69234AE3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24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ATC CATEGORIES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7B484-DB19-4955-80D3-88320127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95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2014–2019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22024-122A-4E76-9E1F-15CFE14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379095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E032B-CEA5-43C0-A789-4F6EA2AD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CC1F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CC1F4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88DD3-CE2F-4B92-B842-5AD3D89A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4FDB1-A69F-4CA1-BE5E-62527281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4E2F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4E2F0"/>
                </a:solidFill>
                <a:latin typeface="Arial"/>
                <a:ea typeface="Arial"/>
                <a:cs typeface="Arial"/>
              </a:rPr>
              <a:t>Time-based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C6544-A03C-4503-8B53-E0DE18EC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2197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CE628-CC69-4FCF-A759-82F1DD28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1AB98-39C3-4C3F-AE70-84FD0029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60.91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A392B-364B-473E-85FC-D0E93095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52197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9525">
            <a:solidFill>
              <a:srgbClr val="CBE8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EA1B8-978A-4575-8423-0BE4C61E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815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3219E-B371-4725-B2F7-89B79CD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768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118.24</a:t>
            </a:r>
          </a:p>
        </p:txBody>
      </p:sp>
    </p:spTree>
    <p:extLst>
      <p:ext uri="{BB962C8B-B14F-4D97-AF65-F5344CB8AC3E}">
        <p14:creationId xmlns:p14="http://schemas.microsoft.com/office/powerpoint/2010/main" val="14329596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33403-ED6A-4597-A5F3-B2E2D5D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order rule is visible and explainable.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D48DA-01E8-439A-AED2-F190CF62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Inventory engine · 30-day planning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D5536-DF39-4497-B153-3A3879B8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1B20D-8AE5-4E74-8C1A-A6B71C97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Forecast demand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263D4-CF34-4E1D-AE0D-3E8D44B5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Expected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231E8-534A-40AD-A6A6-BE114857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B489D-BA4E-48C7-B33C-B43EDA86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Current stock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D30E1-AFEC-45E6-881C-523D0FEA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Units on hand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57F35-6AC9-4C0D-8348-79714D8C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B1F2C-E874-456D-84CD-EE5F9D60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Incoming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6080B-5DA9-4A51-B165-FB39C17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Already ordered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E9AD8-1B97-4940-9826-8899B71B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D6AED-760F-4741-B612-518C87D0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Safety stock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90303-A69B-4CA2-8A83-0CC5486A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Buffer quantity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9F340-122C-4024-B8CA-2D51901D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C52E8-30F9-473C-B4AE-1EC559D5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Supplier lead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BDD93-AF42-4BEF-977B-35DB8ADE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Days to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CB38A-5E9E-41D9-8C46-D4B32194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62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B015F-9401-4255-8FDB-6A2C791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19300"/>
            <a:ext cx="38290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BC2AB-177E-46E1-AEFA-FAC03B54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6DED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6DED6"/>
                </a:solidFill>
                <a:latin typeface="Arial"/>
                <a:ea typeface="Arial"/>
                <a:cs typeface="Arial"/>
              </a:rPr>
              <a:t>ENGINE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0A693-2D6A-43DA-8EF7-F884B849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</a:t>
            </a:r>
          </a:p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4DB2BB-2929-41B4-8C95-547A643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16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E308C-C420-465A-ABC2-BD2028C0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Stockout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9C0A2-8C39-4B85-90C0-A4CABBC2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AD8E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AD8E7"/>
                </a:solidFill>
                <a:latin typeface="Arial"/>
                <a:ea typeface="Arial"/>
                <a:cs typeface="Arial"/>
              </a:rPr>
              <a:t>Expiry risk  ·  Days of supply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412A8-48CA-410C-848B-876E5723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Planning support with human review.</a:t>
            </a:r>
          </a:p>
        </p:txBody>
      </p:sp>
    </p:spTree>
    <p:extLst>
      <p:ext uri="{BB962C8B-B14F-4D97-AF65-F5344CB8AC3E}">
        <p14:creationId xmlns:p14="http://schemas.microsoft.com/office/powerpoint/2010/main" val="916837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B333C-319D-484F-81F2-1775DBC4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Three roles. One connected workflow.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3831C-4727-4E34-A1F0-603C50A8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35280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DD150-274D-46BC-A994-968D5F0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AEA03-710B-4136-B292-6855720F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ASAD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D2D1D-E531-4660-8B09-67596846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441F2-9707-4245-A89D-BC0F0B36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2819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Data &amp; machine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CDF5C-0CB5-4AC5-BA14-3364445A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5280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603BB-9710-4FA4-8644-5F2AF76C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609AF-D120-4D34-A629-5CDA70A6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717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D6B98-2A8A-4923-B201-AB93BB27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29F1D-1C86-4978-908C-DD6E0FC5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00475"/>
            <a:ext cx="2819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Inventory engine &amp;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96E17-C017-4CF8-B7F5-B9D9398D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35280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BAD73-A8D8-4A7E-90E5-AC5C806E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C8680-750F-4E2E-A05F-3821F8A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717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YASIR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2BE22-6EB3-4300-9FE8-52123F8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D50EB-D95C-49D6-BCB1-4E9705A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00475"/>
            <a:ext cx="2819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Dashboard &amp; 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5C629-2E25-493A-9C30-DBC1F2D9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5BBA9-8438-4338-8E3E-4BDF1C74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244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8F55A-DAC7-4A8E-AFDA-F114D850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3631C-E937-4764-9AE6-A9DA3F41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244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25CE6-1987-4AF0-8B85-9592BA07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102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INVENTORY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A7B43-5017-4DF9-A08D-E17530DC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244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2C784-CC49-4019-9582-694D14C6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0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3988527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A494E-977D-41C4-B1D6-58975D3A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249CF-DCF3-4D9B-B7CB-C28FF67C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714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37"/>
          </a:bodyPr>
          <a:lstStyle xmlns:a="http://schemas.openxmlformats.org/drawingml/2006/main"/>
          <a:p xmlns:a="http://schemas.openxmlformats.org/drawingml/2006/main">
            <a:pPr algn="l">
              <a:defRPr sz="5700" b="0" i="1">
                <a:solidFill>
                  <a:srgbClr val="72DED4"/>
                </a:solidFill>
                <a:latin typeface="Georgia"/>
                <a:ea typeface="Georgia"/>
                <a:cs typeface="Georgia"/>
              </a:defRPr>
            </a:pPr>
            <a:r>
              <a:rPr sz="5700" b="0" i="1">
                <a:solidFill>
                  <a:srgbClr val="72DED4"/>
                </a:solidFill>
                <a:latin typeface="Georgia"/>
                <a:ea typeface="Georgia"/>
                <a:cs typeface="Georgia"/>
              </a:rPr>
              <a:t>Prepare.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D6955-3D51-4272-A056-E74FB0A4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714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EC0EC-6778-4667-9616-A611DA78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14450"/>
            <a:ext cx="3238500" cy="3943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945"/>
          </a:solidFill>
          <a:ln xmlns:a="http://schemas.openxmlformats.org/drawingml/2006/main" w="9525">
            <a:solidFill>
              <a:srgbClr val="2442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46810-6BC6-419E-B698-7343D5F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51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83E0D8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83E0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ADD7A-1B89-4C67-8E84-E43F8111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FC4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FC4D9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FDCEE-C016-41DC-9F95-8DCA66A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670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A24C8-07ED-4C57-B72F-9CEE5E37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217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the</a:t>
            </a:r>
          </a:p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1F175-304D-4BE7-A5C6-53192FDE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E4F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E4F3"/>
                </a:solidFill>
                <a:latin typeface="Arial"/>
                <a:ea typeface="Arial"/>
                <a:cs typeface="Arial"/>
              </a:rPr>
              <a:t>Hospital Medicine Forecasting &amp; Inventory Intelligence</a:t>
            </a:r>
          </a:p>
        </p:txBody>
      </p:sp>
    </p:spTree>
    <p:extLst>
      <p:ext uri="{BB962C8B-B14F-4D97-AF65-F5344CB8AC3E}">
        <p14:creationId xmlns:p14="http://schemas.microsoft.com/office/powerpoint/2010/main" val="1288212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2026-10-06T04:46:56.0760000Z</dcterms:created>
  <dcterms:modified xsi:type="dcterms:W3CDTF">2026-10-06T04:46:56.0760000Z</dcterms:modified>
</coreProperties>
</file>