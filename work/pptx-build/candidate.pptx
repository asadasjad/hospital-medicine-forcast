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4893dfa1c84636" /><Relationship Type="http://schemas.openxmlformats.org/officeDocument/2006/relationships/extended-properties" Target="/docProps/app.xml" Id="Rf1f9f6987cd54a74" /><Relationship Type="http://schemas.openxmlformats.org/officeDocument/2006/relationships/officeDocument" Target="/ppt/presentation.xml" Id="Ra897020bb9c24a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e816e6bd4943ff"/>
  </p:sldMasterIdLst>
  <p:notesMasterIdLst>
    <p:notesMasterId xmlns:r="http://schemas.openxmlformats.org/officeDocument/2006/relationships" r:id="R1ec5c7bda7a4441d"/>
  </p:notesMasterIdLst>
  <p:sldIdLst>
    <p:sldId xmlns:r="http://schemas.openxmlformats.org/officeDocument/2006/relationships" id="256" r:id="R439a48a4a4fb4916"/>
    <p:sldId xmlns:r="http://schemas.openxmlformats.org/officeDocument/2006/relationships" id="257" r:id="R783f106e5b8c4b9b"/>
    <p:sldId xmlns:r="http://schemas.openxmlformats.org/officeDocument/2006/relationships" id="258" r:id="R0899333214bb408b"/>
    <p:sldId xmlns:r="http://schemas.openxmlformats.org/officeDocument/2006/relationships" id="259" r:id="R043af4f8ac824b45"/>
    <p:sldId xmlns:r="http://schemas.openxmlformats.org/officeDocument/2006/relationships" id="260" r:id="Rf11c08db612b477c"/>
    <p:sldId xmlns:r="http://schemas.openxmlformats.org/officeDocument/2006/relationships" id="261" r:id="R30988078f3be4e35"/>
    <p:sldId xmlns:r="http://schemas.openxmlformats.org/officeDocument/2006/relationships" id="262" r:id="R845781302bc844aa"/>
    <p:sldId xmlns:r="http://schemas.openxmlformats.org/officeDocument/2006/relationships" id="263" r:id="Rc39c9606af83469e"/>
    <p:sldId xmlns:r="http://schemas.openxmlformats.org/officeDocument/2006/relationships" id="264" r:id="Rbd4f4c92760f420d"/>
    <p:sldId xmlns:r="http://schemas.openxmlformats.org/officeDocument/2006/relationships" id="265" r:id="R6ec53a1c78ec4d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084feeeb604a87" /><Relationship Type="http://schemas.openxmlformats.org/officeDocument/2006/relationships/slideMaster" Target="/ppt/slideMasters/slideMaster1.xml" Id="R69e816e6bd4943ff" /><Relationship Type="http://schemas.openxmlformats.org/officeDocument/2006/relationships/notesMaster" Target="/ppt/notesMasters/notesMaster1.xml" Id="R1ec5c7bda7a4441d" /><Relationship Type="http://schemas.openxmlformats.org/officeDocument/2006/relationships/presProps" Target="/ppt/presProps.xml" Id="R82cc6abaf4344128" /><Relationship Type="http://schemas.openxmlformats.org/officeDocument/2006/relationships/tableStyles" Target="/ppt/tableStyles.xml" Id="R58c56896c3814d16" /><Relationship Type="http://schemas.openxmlformats.org/officeDocument/2006/relationships/slide" Target="/ppt/slides/slide1.xml" Id="R439a48a4a4fb4916" /><Relationship Type="http://schemas.openxmlformats.org/officeDocument/2006/relationships/slide" Target="/ppt/slides/slide2.xml" Id="R783f106e5b8c4b9b" /><Relationship Type="http://schemas.openxmlformats.org/officeDocument/2006/relationships/slide" Target="/ppt/slides/slide3.xml" Id="R0899333214bb408b" /><Relationship Type="http://schemas.openxmlformats.org/officeDocument/2006/relationships/slide" Target="/ppt/slides/slide4.xml" Id="R043af4f8ac824b45" /><Relationship Type="http://schemas.openxmlformats.org/officeDocument/2006/relationships/slide" Target="/ppt/slides/slide5.xml" Id="Rf11c08db612b477c" /><Relationship Type="http://schemas.openxmlformats.org/officeDocument/2006/relationships/slide" Target="/ppt/slides/slide6.xml" Id="R30988078f3be4e35" /><Relationship Type="http://schemas.openxmlformats.org/officeDocument/2006/relationships/slide" Target="/ppt/slides/slide7.xml" Id="R845781302bc844aa" /><Relationship Type="http://schemas.openxmlformats.org/officeDocument/2006/relationships/slide" Target="/ppt/slides/slide8.xml" Id="Rc39c9606af83469e" /><Relationship Type="http://schemas.openxmlformats.org/officeDocument/2006/relationships/slide" Target="/ppt/slides/slide9.xml" Id="Rbd4f4c92760f420d" /><Relationship Type="http://schemas.openxmlformats.org/officeDocument/2006/relationships/slide" Target="/ppt/slides/slide10.xml" Id="R6ec53a1c78ec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5289eed96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7fe4cf807d4efd" /><Relationship Type="http://schemas.openxmlformats.org/officeDocument/2006/relationships/notesMaster" Target="/ppt/notesMasters/notesMaster1.xml" Id="R113d45694eb544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4ae0abca746db" /><Relationship Type="http://schemas.openxmlformats.org/officeDocument/2006/relationships/notesMaster" Target="/ppt/notesMasters/notesMaster1.xml" Id="Rfc16f21fa26b44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e984c5642146ed" /><Relationship Type="http://schemas.openxmlformats.org/officeDocument/2006/relationships/notesMaster" Target="/ppt/notesMasters/notesMaster1.xml" Id="R59657166e22446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862caf0fdf4933" /><Relationship Type="http://schemas.openxmlformats.org/officeDocument/2006/relationships/notesMaster" Target="/ppt/notesMasters/notesMaster1.xml" Id="Rf972ec05e17a44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418b07cad14462" /><Relationship Type="http://schemas.openxmlformats.org/officeDocument/2006/relationships/notesMaster" Target="/ppt/notesMasters/notesMaster1.xml" Id="R3ca66f6c954640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1d80934b84767" /><Relationship Type="http://schemas.openxmlformats.org/officeDocument/2006/relationships/notesMaster" Target="/ppt/notesMasters/notesMaster1.xml" Id="R9b2a248d5103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27c87dc124bfb" /><Relationship Type="http://schemas.openxmlformats.org/officeDocument/2006/relationships/notesMaster" Target="/ppt/notesMasters/notesMaster1.xml" Id="Rdb771282825d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7069e6b8a44cee" /><Relationship Type="http://schemas.openxmlformats.org/officeDocument/2006/relationships/notesMaster" Target="/ppt/notesMasters/notesMaster1.xml" Id="R85180ade7a7f47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24457e06cb4653" /><Relationship Type="http://schemas.openxmlformats.org/officeDocument/2006/relationships/notesMaster" Target="/ppt/notesMasters/notesMaster1.xml" Id="Rd23f7084f7f94a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e380b312b149d5" /><Relationship Type="http://schemas.openxmlformats.org/officeDocument/2006/relationships/notesMaster" Target="/ppt/notesMasters/notesMaster1.xml" Id="R22104c7fb79342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Hospitals need enough medicine on hand. Too much can expire; too little can cause a shortage. Our goal is to help find a better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The system has three jobs. It predicts demand, checks the inventory position, and recommends what to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This is the dashboard view. Forecasts, stock, suggested orders and risk appear together, so a team can see the next decision in one place.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Yasir: The dashboard shows predicted demand, available stock, days of supply, risk levels, and a suggested order. The goal is to make the decision easy to read.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For N02BE, demand is predicted at 901 units. With 700 on hand, 100 incoming, and a 150-unit safety buffer, the prototype recommends 252 units. Inventory values are demo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start with monthly sales history. The model forecasts demand. The inventory engine combines that forecast with stock and lead-time inputs, then returns an order suggestion and risk flags.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We used 70 monthly observations across eight categories, covering 2014 to 2019. We evaluated Linear Regression using a time-based split. The test errors were 60.91 MAE and 118.24 RMSE.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Aon: The inventory engine uses predicted demand, on-hand and incoming stock, safety stock, and supplier lead time. It calculates a suggested order and flags stockout or expiry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I worked on the data and forecasting.</a:t>
            </a:r>
          </a:p>
          <a:p xmlns:a="http://schemas.openxmlformats.org/drawingml/2006/main">
            <a:r>
              <a:t>Aon: I built the inventory rules and backend integration.</a:t>
            </a:r>
          </a:p>
          <a:p xmlns:a="http://schemas.openxmlformats.org/drawingml/2006/main">
            <a:r>
              <a:t>Yasir: I built the dashboard that brings the results together.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Asad: Predict demand. Prepare inventory. Prevent avoidable shortages and waste. 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71d7bd9cd4b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6ad7301d50466b" /><Relationship Type="http://schemas.openxmlformats.org/officeDocument/2006/relationships/slideLayout" Target="/ppt/slideLayouts/slideLayout1.xml" Id="Rbbce3d34a5b840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e3d34a5b840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c27759c24aa2" /><Relationship Type="http://schemas.openxmlformats.org/officeDocument/2006/relationships/notesSlide" Target="/ppt/notesSlides/notesSlide1.xml" Id="R6d5a4fcbc730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7634e5da14d8b" /><Relationship Type="http://schemas.openxmlformats.org/officeDocument/2006/relationships/notesSlide" Target="/ppt/notesSlides/notesSlide2.xml" Id="R6b49c080e665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d9754aad24d89" /><Relationship Type="http://schemas.openxmlformats.org/officeDocument/2006/relationships/notesSlide" Target="/ppt/notesSlides/notesSlide3.xml" Id="R81c5a790c453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3e62b6b8e4efc" /><Relationship Type="http://schemas.openxmlformats.org/officeDocument/2006/relationships/notesSlide" Target="/ppt/notesSlides/notesSlide4.xml" Id="Raf73510301b4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2e3d5c424413" /><Relationship Type="http://schemas.openxmlformats.org/officeDocument/2006/relationships/notesSlide" Target="/ppt/notesSlides/notesSlide5.xml" Id="R6229f9f4998842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46fba1d8e4596" /><Relationship Type="http://schemas.openxmlformats.org/officeDocument/2006/relationships/notesSlide" Target="/ppt/notesSlides/notesSlide6.xml" Id="R77dc4caefcb2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5bc8a6ecb43b4" /><Relationship Type="http://schemas.openxmlformats.org/officeDocument/2006/relationships/notesSlide" Target="/ppt/notesSlides/notesSlide7.xml" Id="R2849b718644448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2c54218a43ba" /><Relationship Type="http://schemas.openxmlformats.org/officeDocument/2006/relationships/notesSlide" Target="/ppt/notesSlides/notesSlide8.xml" Id="R8aecb65978df4b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2167b874e4885" /><Relationship Type="http://schemas.openxmlformats.org/officeDocument/2006/relationships/notesSlide" Target="/ppt/notesSlides/notesSlide9.xml" Id="Ra31879db912148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e1d37e0d644cb" /><Relationship Type="http://schemas.openxmlformats.org/officeDocument/2006/relationships/notesSlide" Target="/ppt/notesSlides/notesSlide10.xml" Id="Rf1ec18a41e8a48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28730-D4B0-42DE-8E54-65E20056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 much is waste.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4E718-9D9C-4DC3-BAAE-04D9DB95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28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72D6C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72D6CF"/>
                </a:solidFill>
                <a:latin typeface="Arial"/>
                <a:ea typeface="Arial"/>
                <a:cs typeface="Arial"/>
              </a:rPr>
              <a:t>Too little is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28613-3414-4308-87BB-23ADD972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09ED7-337C-421F-BA06-9DDAA1A3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3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3F0"/>
                </a:solidFill>
                <a:latin typeface="Arial"/>
                <a:ea typeface="Arial"/>
                <a:cs typeface="Arial"/>
              </a:rPr>
              <a:t>Hospital medicine forecasting &amp; inventory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A04EC-1BF7-40A6-A399-B0C95233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BDD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BDD2"/>
                </a:solidFill>
                <a:latin typeface="Arial"/>
                <a:ea typeface="Arial"/>
                <a:cs typeface="Arial"/>
              </a:rPr>
              <a:t>ASAD  ·  AON  ·  YASIR</a:t>
            </a:r>
          </a:p>
        </p:txBody>
      </p:sp>
    </p:spTree>
    <p:extLst>
      <p:ext uri="{BB962C8B-B14F-4D97-AF65-F5344CB8AC3E}">
        <p14:creationId xmlns:p14="http://schemas.microsoft.com/office/powerpoint/2010/main" val="1387793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33F4E-4765-4A37-AAF9-0D94A34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One system. Three clear jobs.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106AB-8B32-4D8B-8E01-7F5319C7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 decision-support workflow for hospital medicine inventory.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469A3-7AF6-4472-A314-718BA682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D9C68-C696-404D-B4FA-8EA14B8A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479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3881E-708D-447E-B84B-DFAD0422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Predict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4A54A-DD81-4A0A-B054-47019259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AF9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4BA61-3079-4028-8FD4-8A4CF010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479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9F8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9F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0B44E-D1A9-4FC9-9405-D0AFD958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Understand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B67F6-71F3-4AB4-9B8F-45D9E92E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08A61-7105-4DE6-A7E6-48954A5A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F61FD-4AD9-4B5F-8519-6B8E8237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Recommend what to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E6EA7-748B-4D3E-A2D7-E4A83BF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Forecast  →  context  →  action</a:t>
            </a:r>
          </a:p>
        </p:txBody>
      </p:sp>
    </p:spTree>
    <p:extLst>
      <p:ext uri="{BB962C8B-B14F-4D97-AF65-F5344CB8AC3E}">
        <p14:creationId xmlns:p14="http://schemas.microsoft.com/office/powerpoint/2010/main" val="51874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7DCF89-47E4-4746-B6A8-8D52B164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See the next decision in one view.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66D8B-C29B-46AA-A533-9CF5C10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Hospital Medicine Forecasting  ·  Demand prediction &amp; inventory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21E80-FD0F-44CC-81A5-A267C2F6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2E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70323-F5DE-4675-93E3-95B2022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49A7C-C086-4AC4-B1CE-366BA2CA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6F474-8225-45D8-B341-C8A45BE1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D03BA-6BF4-47EF-AF4C-A9311410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050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Hospital Medicine 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86FF3-4A13-4A42-BCCD-2BEF01C1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240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Forecast: next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022AB-6CD4-441C-8C9E-F736B2C4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38425"/>
            <a:ext cx="1790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FCD03-569A-4297-823F-7763301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50931-B33C-4143-B344-FDAD3048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9C624-F5AF-42C9-B861-1CAE6A7E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38425"/>
            <a:ext cx="1790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B0544-545A-4C9A-AAAE-47BBE02B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146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60.91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319C0-00C2-4709-B642-3AFD8642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575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1D5CC-A8F6-4EEA-A87A-7E11B43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38425"/>
            <a:ext cx="1790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F3EF55-F86D-4182-A3FF-1D580B6E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14625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118.24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7D262-0319-42B3-9CEA-7A7B5EB1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57525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C473C-81F1-4ACF-9139-EBBFADA9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45339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7B48F-8008-4433-AA8D-B38ADD68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550F0-6126-463C-B917-D93801C3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E4FF55-7A64-4B05-AF49-A87BD7D0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B38E1-8238-4AED-AA80-0884E72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280416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8A8C7-943C-4A1A-8839-FA396824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672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M01AB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C7555-98CE-4A3A-9439-7C7D42F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6A404-7A41-49CD-A284-B1EC12A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112776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6F0C6-D647-4788-A514-EB92B1BF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006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N05B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65D1E-F951-4569-9924-53813894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29175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81E50-183F-46C1-9253-708D1814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29175"/>
            <a:ext cx="82296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AB5BD8-BBC3-4CFC-821A-6109502C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339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R03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F75923-943F-4E3C-B181-CDEDE1E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3048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E97DC-4C25-466F-B2C8-31AA278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62550"/>
            <a:ext cx="70104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57B18F-9B0F-4836-88EC-3EC66F38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562350"/>
            <a:ext cx="5229225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FDF50-EE6C-4912-8B3C-A3A26252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Inventory recommendations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6E9A0-732C-42CB-A34E-193F7137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Category       Demand      Stock      Order      Risk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81050-9BE3-4087-96DE-7E4ABF28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7675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N02BE              901             700          252      MEDIUM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2D36EB-7102-4D9C-B9F2-DA47F18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48225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M01AB              151             100            66      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DC2BA4-4855-4E4E-9834-B3CFC564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1970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N05B                238             250              9      MEDIUM</a:t>
            </a:r>
          </a:p>
        </p:txBody>
      </p:sp>
    </p:spTree>
    <p:extLst>
      <p:ext uri="{BB962C8B-B14F-4D97-AF65-F5344CB8AC3E}">
        <p14:creationId xmlns:p14="http://schemas.microsoft.com/office/powerpoint/2010/main" val="12245562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46892E-EE03-4C00-ABEC-619EDC0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From forecast to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4E06B-2CA1-4349-B425-9AE6544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The dashboard keeps the decision context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DEDB0-C3CA-44C4-8D76-73A2D6F1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90D2E-8119-48FE-9695-6FE1AFB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09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CE0A8-FACA-4F69-9EB4-B11AE7C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Next-period demand by 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D548F-60D4-4AE7-A949-992753F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5267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E660-122C-47BD-9805-87F36C26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A46A3-ADE5-418A-B671-4247957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003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95FEF-FC45-465F-B5D5-840492F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03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Current and incoming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58112-3F36-4B30-9FAA-0517DD0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432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82673-B342-4AB4-B10A-66914EE2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DF314-8C1B-4F64-A53D-2AF89201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6CE3A-D624-4172-96E3-452962DA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Days of supply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C643F-4306-4CA3-B607-D8A60FE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3382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32754-237F-43BB-B470-D4B0D05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DFE4E-D01D-4E7C-9228-7F2EDD27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DEAB8-77F8-433B-8A96-80CBFAF3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814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Stockout and expiry flags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9D04A-E22C-4D6D-8B3C-915B3D80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DECCF-A9E0-4711-9E69-5524DE74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E1D58-D6AA-4B6E-8A50-40C0E82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72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D1A37-BD0C-4C33-B00C-03317608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Suggested replenishment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6336D-B886-4D63-A5BE-68139E5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14975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90234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ECA4-3552-4F71-AC69-BA1E0B1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N02BE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F785-432B-46E0-BD38-883D8EF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 prototype scenario · 30-day planning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A70CB-C2C9-4362-A2AA-A57AE54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36004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0E9F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2A268-87D1-44CF-A9A5-5D8DD3B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5745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901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594B0-6633-4C33-821E-0CC55216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PREDICTED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EBD76-428F-438A-9CC4-F8F89E62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765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58766-CEF4-4F6E-817F-2CA3DED1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323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4DF7D-68CB-4515-8E71-544C527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480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RECOMMENDED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0E289-1C58-47B4-AF5E-74861F5D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25930-DAF4-46A5-9DF1-D1922286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434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700 on hand   +   100 incoming   +   150 safety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9783-FF94-4714-8B19-AB2EABB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387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Demo inventory inputs; recommendation is a rule-based calculation.</a:t>
            </a:r>
          </a:p>
        </p:txBody>
      </p:sp>
    </p:spTree>
    <p:extLst>
      <p:ext uri="{BB962C8B-B14F-4D97-AF65-F5344CB8AC3E}">
        <p14:creationId xmlns:p14="http://schemas.microsoft.com/office/powerpoint/2010/main" val="334973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BDD9C-03F3-4254-9B4C-34550530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Four steps turn history into a plan.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A222D-7A4B-4361-85EF-5627B3D0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381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67AC0-B16D-475F-9E56-3FCF4304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92048-0E9E-4019-AFEC-CA48138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Historical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EB81-D1EA-440E-9C69-3EB0D608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Monthly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C16F6-3347-44D5-8FB1-E85D1DC6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384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80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5A9F8-CC61-40F0-816C-F934210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24100"/>
            <a:ext cx="2381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E10D8-E812-4C7F-B622-DBF4365E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14600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D7FA6-5BF2-46F0-B23E-49239CB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71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Demand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8FEFD-F69C-413E-BF41-0F9B5046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552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2935A-8F31-4D78-985E-F4F72D44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384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80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98E8B-AB64-4497-9EA5-BB47727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2381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EB2DA-26E2-4DFC-9CAD-4D35708F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14600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2DE81-7BED-4333-ACB8-D96FFB65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71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Inventory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D3ED6-7DF7-4653-B197-7DD3BEF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52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Stock, lead time, safety stock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2FC42-F6A6-47B7-B3E2-557D8715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80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10F00-9D7D-4BB1-9B04-E4335A56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24100"/>
            <a:ext cx="2381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FFAF8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AD6C8-2EDA-4155-A3DE-852F606B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14600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9F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9F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171BC-F254-4199-B270-729BBBC3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71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9340D-01A5-4FE3-BBE8-FBE06D06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528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Order quantity &amp;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C8166-2B9E-402A-A137-2888E88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The forecast is an input to a transparent inventory rule.</a:t>
            </a:r>
          </a:p>
        </p:txBody>
      </p:sp>
    </p:spTree>
    <p:extLst>
      <p:ext uri="{BB962C8B-B14F-4D97-AF65-F5344CB8AC3E}">
        <p14:creationId xmlns:p14="http://schemas.microsoft.com/office/powerpoint/2010/main" val="112824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0BA4E-4C8F-4F39-A88A-B0CF0FC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 simple model. Measured on held-out months.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99828-FDB7-4D17-8F6C-E57B7F4F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Monthly pharmaceutical sales · time-based train/test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E98E7-AE33-448D-B1BD-4FBC60C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69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2FE13-F430-4FA2-882C-E017881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months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B345A-E581-4BF3-A814-914118D4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65D44-C4C4-4014-BC10-5FBC14D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62150"/>
            <a:ext cx="257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69"/>
          </a:bodyPr>
          <a:lstStyle xmlns:a="http://schemas.openxmlformats.org/drawingml/2006/main"/>
          <a:p xmlns:a="http://schemas.openxmlformats.org/drawingml/2006/main">
            <a:pPr algn="l">
              <a:defRPr sz="78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F9118-1B3A-4902-8172-463D176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527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ATC 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C0DAC-F167-4872-A002-A77C7BB1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526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AD98E-1E76-4023-9764-D2D3C5D4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2014–2019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4EFED-DB16-40BF-8014-C867423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source data period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BC100-0FF2-49E7-9B56-57888ED3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0E9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EC904-DC69-4904-AC76-CA7C2E2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286"/>
                </a:solidFill>
                <a:latin typeface="Arial"/>
                <a:ea typeface="Arial"/>
                <a:cs typeface="Arial"/>
              </a:rPr>
              <a:t>LINEAR 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5386F-6092-4A11-BE1B-0ED06DD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95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MAE  60.91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B7917-8245-4542-A683-0746DD2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958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RMSE  118.24</a:t>
            </a:r>
          </a:p>
        </p:txBody>
      </p:sp>
    </p:spTree>
    <p:extLst>
      <p:ext uri="{BB962C8B-B14F-4D97-AF65-F5344CB8AC3E}">
        <p14:creationId xmlns:p14="http://schemas.microsoft.com/office/powerpoint/2010/main" val="55389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EB410-045C-4C2A-85DA-411DDD2D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The order rule is visible and explainable.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4E918-C843-40A2-8E9B-32710853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Inventory engine · 30-day planning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160F8-7B3C-4707-BEC7-67C13D93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695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DE45-B97F-4238-B577-15BE4783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Forecast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30695-93B9-42D8-BD8C-26C2126A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Expected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F632-68AE-4822-9990-FB4D9F6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695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A15D4-915C-4E40-A767-D75CE1A7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Current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98745-0E7D-42CC-824B-002CF522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Units on hand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1060F-FF94-413F-8B45-48B3D012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695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6F7B0-DB6D-41C2-91EF-AE6D438A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Incoming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874AC-FBA6-4E99-91CF-1264E404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Already ordered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9D83C-D2B3-4406-AC6D-5BE2FC0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3695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462EF-FB0F-43B8-B656-FEBC8468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Safety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F93C-1466-47EE-B915-36ED6998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Buffer quantity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52F6F-7E42-4017-801F-4018E47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695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E2EAF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7F5DD-42EA-4B26-A05B-09D020FF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Supplier lead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849F2-8068-4D3F-B079-C1EDB699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Days to delivery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04B34-DB24-46E0-991E-672EBD11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337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4B8A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B8A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EB75C-6A1E-4D63-9C39-177520BC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43125"/>
            <a:ext cx="56578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AF9"/>
          </a:solidFill>
          <a:ln xmlns:a="http://schemas.openxmlformats.org/drawingml/2006/main" w="9525">
            <a:solidFill>
              <a:srgbClr val="CEE9E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B9103-4B6D-406B-AECD-A4AE6C16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F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F9F8F"/>
                </a:solidFill>
                <a:latin typeface="Arial"/>
                <a:ea typeface="Arial"/>
                <a:cs typeface="Arial"/>
              </a:rPr>
              <a:t>ENGINE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161E0-836F-428A-9D25-364BB3C0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Suggested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0AF72-F865-466F-98B5-E24FD02B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671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Stockout risk  ·  Expiry risk  ·  Days of supply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41A716-B677-48E5-A851-AB8EADE1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857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Planning support, with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727268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7DD44-7D31-4E10-8C6B-E395ECB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Three roles. One connected workflow.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85DDD-D641-4056-9446-79E00539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497DB-DE64-498F-ADD4-24411D5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00A9C-0D0B-45B1-8214-573761B8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2EB10-7C1D-48C0-B3D0-F5D5EB1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Asad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20373-4BEC-4EF5-A58D-B9E1B17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Data &amp; machine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0FB34-AC06-4040-B263-9493842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89F3E-4392-4E5E-8B7D-08A9D5AC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FC824-B7D5-4808-8C92-12776284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9F8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9F8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F7878-3746-4747-B53C-D627445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24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Aon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27CDD-28DF-4A60-AD5B-4DC8A5F3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90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Inventory engine &amp;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3ED43-DE87-49E1-A960-EC69114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333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CE6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7398-4435-49D9-8B56-CCEA95F8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4953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3EA18-950A-457F-8B6D-025CDE7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74814-EC70-4000-9911-5E712DE4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Yasir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5BA45-2AC4-4F02-8CC6-BF031F2F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286"/>
                </a:solidFill>
                <a:latin typeface="Arial"/>
                <a:ea typeface="Arial"/>
                <a:cs typeface="Arial"/>
              </a:rPr>
              <a:t>Dashboard &amp; 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C5E81-75BC-4B2E-B33A-BAFCDDB5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16927-AB88-44AB-8556-4981F30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A"/>
                </a:solidFill>
                <a:latin typeface="Arial"/>
                <a:ea typeface="Arial"/>
                <a:cs typeface="Arial"/>
              </a:rPr>
              <a:t>Data  →  Forecast  →  Inventory logic  →  Dashboard</a:t>
            </a:r>
          </a:p>
        </p:txBody>
      </p:sp>
    </p:spTree>
    <p:extLst>
      <p:ext uri="{BB962C8B-B14F-4D97-AF65-F5344CB8AC3E}">
        <p14:creationId xmlns:p14="http://schemas.microsoft.com/office/powerpoint/2010/main" val="1042568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EAAD7-23B4-4228-9D64-7D66AB57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6ABD2-34DA-44D5-9920-16FD3A65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72D6C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72D6CF"/>
                </a:solidFill>
                <a:latin typeface="Arial"/>
                <a:ea typeface="Arial"/>
                <a:cs typeface="Arial"/>
              </a:rPr>
              <a:t>Prepare.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3C24B-61DE-459E-AFAD-00DFF2B3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254E4-9BDB-4BA2-A8E6-91FB82A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27D60-7BA7-407A-B018-2529A1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F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F0"/>
                </a:solidFill>
                <a:latin typeface="Arial"/>
                <a:ea typeface="Arial"/>
                <a:cs typeface="Arial"/>
              </a:rPr>
              <a:t>Hospital Medicine Forecasting &amp; Inventory Intelligence</a:t>
            </a:r>
          </a:p>
        </p:txBody>
      </p:sp>
    </p:spTree>
    <p:extLst>
      <p:ext uri="{BB962C8B-B14F-4D97-AF65-F5344CB8AC3E}">
        <p14:creationId xmlns:p14="http://schemas.microsoft.com/office/powerpoint/2010/main" val="122449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2026-10-06T04:41:41.7540000Z</dcterms:created>
  <dcterms:modified xsi:type="dcterms:W3CDTF">2026-10-06T04:41:41.7540000Z</dcterms:modified>
</coreProperties>
</file>